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 rot="20760000">
            <a:off x="-1371600" y="1508760"/>
            <a:ext cx="9875520" cy="658368"/>
          </a:xfrm>
          <a:prstGeom prst="parallelogram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960000">
            <a:off x="8503920" y="5715000"/>
            <a:ext cx="7955279" cy="713232"/>
          </a:xfrm>
          <a:prstGeom prst="parallelogram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-822960"/>
            <a:ext cx="5303520" cy="3840480"/>
          </a:xfrm>
          <a:prstGeom prst="ellipse">
            <a:avLst/>
          </a:prstGeom>
          <a:solidFill>
            <a:srgbClr val="72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448056"/>
            <a:ext cx="393192" cy="393192"/>
          </a:xfrm>
          <a:prstGeom prst="roundRect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530352"/>
            <a:ext cx="64008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530352"/>
            <a:ext cx="146304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3584" y="530352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9F8F"/>
                </a:solidFill>
                <a:latin typeface="Aptos"/>
              </a:rPr>
              <a:t>Briefly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0" y="576072"/>
            <a:ext cx="7863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6756F"/>
                </a:solidFill>
                <a:latin typeface="Aptos"/>
              </a:rPr>
              <a:t>01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926080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F9F8F"/>
                </a:solidFill>
                <a:latin typeface="Aptos"/>
              </a:rPr>
              <a:t>THE SPECIFICATION INTERNET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246120"/>
            <a:ext cx="612648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0F1F1C"/>
                </a:solidFill>
                <a:latin typeface="Georgia"/>
              </a:rPr>
              <a:t>Commerce should
begin with human
intent.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30368"/>
            <a:ext cx="603504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Not product catalogues. Briefly transforms what people want into
standardized manufacturing specifications.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925312"/>
            <a:ext cx="36576" cy="713232"/>
          </a:xfrm>
          <a:prstGeom prst="rect">
            <a:avLst/>
          </a:prstGeom>
          <a:solidFill>
            <a:srgbClr val="0F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" y="5925312"/>
            <a:ext cx="6272784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6108192"/>
            <a:ext cx="589788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0F1F1C"/>
                </a:solidFill>
                <a:latin typeface="Aptos"/>
              </a:rPr>
              <a:t>Transforming human intent into standardized manufacturing
specifications.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743200"/>
            <a:ext cx="6583680" cy="4206240"/>
          </a:xfrm>
          <a:prstGeom prst="roundRect">
            <a:avLst/>
          </a:prstGeom>
          <a:solidFill>
            <a:srgbClr val="122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26679" y="2907792"/>
            <a:ext cx="91440" cy="91440"/>
          </a:xfrm>
          <a:prstGeom prst="ellipse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82127" y="2907792"/>
            <a:ext cx="91440" cy="9144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37575" y="2907792"/>
            <a:ext cx="91440" cy="91440"/>
          </a:xfrm>
          <a:prstGeom prst="ellipse">
            <a:avLst/>
          </a:prstGeom>
          <a:solidFill>
            <a:srgbClr val="72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rototype-a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1" y="3182112"/>
            <a:ext cx="6254496" cy="36393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 rot="20760000">
            <a:off x="-1371600" y="1508760"/>
            <a:ext cx="9875520" cy="658368"/>
          </a:xfrm>
          <a:prstGeom prst="parallelogram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960000">
            <a:off x="8503920" y="5715000"/>
            <a:ext cx="7955279" cy="713232"/>
          </a:xfrm>
          <a:prstGeom prst="parallelogram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-822960"/>
            <a:ext cx="5303520" cy="3840480"/>
          </a:xfrm>
          <a:prstGeom prst="ellipse">
            <a:avLst/>
          </a:prstGeom>
          <a:solidFill>
            <a:srgbClr val="72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448056"/>
            <a:ext cx="393192" cy="393192"/>
          </a:xfrm>
          <a:prstGeom prst="roundRect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530352"/>
            <a:ext cx="64008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530352"/>
            <a:ext cx="146304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3584" y="530352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9F8F"/>
                </a:solidFill>
                <a:latin typeface="Aptos"/>
              </a:rPr>
              <a:t>Briefly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0" y="576072"/>
            <a:ext cx="7863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6756F"/>
                </a:solidFill>
                <a:latin typeface="Aptos"/>
              </a:rPr>
              <a:t>02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161288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F9F8F"/>
                </a:solidFill>
                <a:latin typeface="Aptos"/>
              </a:rPr>
              <a:t>THE HIDDEN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868680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00" b="1">
                <a:solidFill>
                  <a:srgbClr val="0F1F1C"/>
                </a:solidFill>
                <a:latin typeface="Georgia"/>
              </a:rPr>
              <a:t>Commerce begins with products. People do not.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514600"/>
            <a:ext cx="63093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679192"/>
            <a:ext cx="5989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081528"/>
            <a:ext cx="5943600" cy="12161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Cannot find exactly what they need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Compromise on design or functionality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Contact multiple manufacturers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Repeatedly explain requirements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Wait days for quotations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514600"/>
            <a:ext cx="63093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71231" y="2679192"/>
            <a:ext cx="5989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Manufacturers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3081528"/>
            <a:ext cx="5943600" cy="12161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Receive vague enquiries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Spend hours clarifying requirements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Educate customers on materials and constraints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Prepare quotations that never convert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892040"/>
            <a:ext cx="36576" cy="713232"/>
          </a:xfrm>
          <a:prstGeom prst="rect">
            <a:avLst/>
          </a:prstGeom>
          <a:solidFill>
            <a:srgbClr val="0F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9536" y="4892040"/>
            <a:ext cx="8010144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074920"/>
            <a:ext cx="763524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F1F1C"/>
                </a:solidFill>
                <a:latin typeface="Aptos"/>
              </a:rPr>
              <a:t>The real bottleneck is not manufacturing. It is translating human intent into something manufacturers can actually build.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 rot="20760000">
            <a:off x="-1371600" y="1508760"/>
            <a:ext cx="9875520" cy="658368"/>
          </a:xfrm>
          <a:prstGeom prst="parallelogram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960000">
            <a:off x="8503920" y="5715000"/>
            <a:ext cx="7955279" cy="713232"/>
          </a:xfrm>
          <a:prstGeom prst="parallelogram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-822960"/>
            <a:ext cx="5303520" cy="3840480"/>
          </a:xfrm>
          <a:prstGeom prst="ellipse">
            <a:avLst/>
          </a:prstGeom>
          <a:solidFill>
            <a:srgbClr val="72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448056"/>
            <a:ext cx="393192" cy="393192"/>
          </a:xfrm>
          <a:prstGeom prst="roundRect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530352"/>
            <a:ext cx="64008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530352"/>
            <a:ext cx="146304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3584" y="530352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9F8F"/>
                </a:solidFill>
                <a:latin typeface="Aptos"/>
              </a:rPr>
              <a:t>Briefly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0" y="576072"/>
            <a:ext cx="7863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6756F"/>
                </a:solidFill>
                <a:latin typeface="Aptos"/>
              </a:rPr>
              <a:t>03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161288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F9F8F"/>
                </a:solidFill>
                <a:latin typeface="Aptos"/>
              </a:rPr>
              <a:t>THE PIVOT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868680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00" b="1">
                <a:solidFill>
                  <a:srgbClr val="0F1F1C"/>
                </a:solidFill>
                <a:latin typeface="Georgia"/>
              </a:rPr>
              <a:t>We thought we were solving the wrong problem.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514600"/>
            <a:ext cx="63093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679192"/>
            <a:ext cx="5989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Initial assumption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090672"/>
            <a:ext cx="1600200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3182112"/>
            <a:ext cx="1417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0F1F1C"/>
                </a:solidFill>
                <a:latin typeface="Aptos"/>
              </a:rPr>
              <a:t>Find manufacturers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163824"/>
            <a:ext cx="20116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FF7A59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090672"/>
            <a:ext cx="1600200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45536" y="3182112"/>
            <a:ext cx="1417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0F1F1C"/>
                </a:solidFill>
                <a:latin typeface="Aptos"/>
              </a:rPr>
              <a:t>Marketplace MVP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703320"/>
            <a:ext cx="1600200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" y="3794759"/>
            <a:ext cx="1417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0F1F1C"/>
                </a:solidFill>
                <a:latin typeface="Aptos"/>
              </a:rPr>
              <a:t>5 interviews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776472"/>
            <a:ext cx="20116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FF7A59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0" y="3703320"/>
            <a:ext cx="1600200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5536" y="3794759"/>
            <a:ext cx="1417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0F1F1C"/>
                </a:solidFill>
                <a:latin typeface="Aptos"/>
              </a:rPr>
              <a:t>Real bottleneck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2514600"/>
            <a:ext cx="63093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71231" y="2679192"/>
            <a:ext cx="5989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What manufacturers told 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19" y="3081528"/>
            <a:ext cx="5943600" cy="12161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t>✓  Customers do not know what manufacturers need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t>✓  Clarification wastes time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t>✓  Budgets and materials are misunderstood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t>✓  Standardized specs reduce quotation effort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892040"/>
            <a:ext cx="36576" cy="822960"/>
          </a:xfrm>
          <a:prstGeom prst="rect">
            <a:avLst/>
          </a:prstGeom>
          <a:solidFill>
            <a:srgbClr val="0F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9536" y="4892040"/>
            <a:ext cx="8010144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074920"/>
            <a:ext cx="7635240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F1F1C"/>
                </a:solidFill>
                <a:latin typeface="Aptos"/>
              </a:rPr>
              <a:t>"It turns an ambiguous design conversation into a deterministic procurement transaction."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394960"/>
            <a:ext cx="76352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66756F"/>
                </a:solidFill>
                <a:latin typeface="Aptos"/>
              </a:rPr>
              <a:t>Teck Soon Furniture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 rot="20760000">
            <a:off x="-1371600" y="1508760"/>
            <a:ext cx="9875520" cy="658368"/>
          </a:xfrm>
          <a:prstGeom prst="parallelogram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960000">
            <a:off x="8503920" y="5715000"/>
            <a:ext cx="7955279" cy="713232"/>
          </a:xfrm>
          <a:prstGeom prst="parallelogram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-822960"/>
            <a:ext cx="5303520" cy="3840480"/>
          </a:xfrm>
          <a:prstGeom prst="ellipse">
            <a:avLst/>
          </a:prstGeom>
          <a:solidFill>
            <a:srgbClr val="72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448056"/>
            <a:ext cx="393192" cy="393192"/>
          </a:xfrm>
          <a:prstGeom prst="roundRect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530352"/>
            <a:ext cx="64008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530352"/>
            <a:ext cx="146304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3584" y="530352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72E0C9"/>
                </a:solidFill>
                <a:latin typeface="Aptos"/>
              </a:rPr>
              <a:t>Briefly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0" y="576072"/>
            <a:ext cx="7863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CFE9E1"/>
                </a:solidFill>
                <a:latin typeface="Aptos"/>
              </a:rPr>
              <a:t>04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161288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72E0C9"/>
                </a:solidFill>
                <a:latin typeface="Aptos"/>
              </a:rPr>
              <a:t>INTRODUCING THE SPECIFICATION INTERNET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868680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Georgia"/>
              </a:rPr>
              <a:t>We remove ambiguity before manufacturing begins.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514600"/>
            <a:ext cx="6309360" cy="2377440"/>
          </a:xfrm>
          <a:prstGeom prst="roundRect">
            <a:avLst/>
          </a:prstGeom>
          <a:solidFill>
            <a:srgbClr val="345049"/>
          </a:solidFill>
          <a:ln w="10160">
            <a:solidFill>
              <a:srgbClr val="506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679192"/>
            <a:ext cx="5989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Instead of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" y="3063240"/>
            <a:ext cx="1600200" cy="347472"/>
          </a:xfrm>
          <a:prstGeom prst="roundRect">
            <a:avLst/>
          </a:prstGeom>
          <a:solidFill>
            <a:srgbClr val="405A53"/>
          </a:solidFill>
          <a:ln w="8890">
            <a:solidFill>
              <a:srgbClr val="637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154680"/>
            <a:ext cx="1417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3502152"/>
            <a:ext cx="20116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FF7A59"/>
                </a:solidFill>
                <a:latin typeface="Apto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" y="3840480"/>
            <a:ext cx="1600200" cy="347472"/>
          </a:xfrm>
          <a:prstGeom prst="roundRect">
            <a:avLst/>
          </a:prstGeom>
          <a:solidFill>
            <a:srgbClr val="405A53"/>
          </a:solidFill>
          <a:ln w="8890">
            <a:solidFill>
              <a:srgbClr val="637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931920"/>
            <a:ext cx="1417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Search products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4279392"/>
            <a:ext cx="20116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FF7A59"/>
                </a:solidFill>
                <a:latin typeface="Aptos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" y="4617720"/>
            <a:ext cx="1600200" cy="347472"/>
          </a:xfrm>
          <a:prstGeom prst="roundRect">
            <a:avLst/>
          </a:prstGeom>
          <a:solidFill>
            <a:srgbClr val="405A53"/>
          </a:solidFill>
          <a:ln w="8890">
            <a:solidFill>
              <a:srgbClr val="637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709159"/>
            <a:ext cx="1417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Compromise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" y="5056631"/>
            <a:ext cx="20116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FF7A59"/>
                </a:solidFill>
                <a:latin typeface="Aptos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" y="5394959"/>
            <a:ext cx="1600200" cy="347472"/>
          </a:xfrm>
          <a:prstGeom prst="roundRect">
            <a:avLst/>
          </a:prstGeom>
          <a:solidFill>
            <a:srgbClr val="405A53"/>
          </a:solidFill>
          <a:ln w="8890">
            <a:solidFill>
              <a:srgbClr val="637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5486399"/>
            <a:ext cx="1417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Purchase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2514600"/>
            <a:ext cx="6309360" cy="2377440"/>
          </a:xfrm>
          <a:prstGeom prst="roundRect">
            <a:avLst/>
          </a:prstGeom>
          <a:solidFill>
            <a:srgbClr val="345049"/>
          </a:solidFill>
          <a:ln w="10160">
            <a:solidFill>
              <a:srgbClr val="506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71231" y="2679192"/>
            <a:ext cx="5989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We propose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3063240"/>
            <a:ext cx="1600200" cy="347472"/>
          </a:xfrm>
          <a:prstGeom prst="roundRect">
            <a:avLst/>
          </a:prstGeom>
          <a:solidFill>
            <a:srgbClr val="405A53"/>
          </a:solidFill>
          <a:ln w="8890">
            <a:solidFill>
              <a:srgbClr val="637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08976" y="3154680"/>
            <a:ext cx="1417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Customer intent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3502152"/>
            <a:ext cx="20116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FF7A59"/>
                </a:solidFill>
                <a:latin typeface="Aptos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3840480"/>
            <a:ext cx="1600200" cy="347472"/>
          </a:xfrm>
          <a:prstGeom prst="roundRect">
            <a:avLst/>
          </a:prstGeom>
          <a:solidFill>
            <a:srgbClr val="405A53"/>
          </a:solidFill>
          <a:ln w="8890">
            <a:solidFill>
              <a:srgbClr val="637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08976" y="3931920"/>
            <a:ext cx="1417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AI specification copilot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54112" y="4279392"/>
            <a:ext cx="20116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FF7A59"/>
                </a:solidFill>
                <a:latin typeface="Aptos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0" y="4617720"/>
            <a:ext cx="1600200" cy="347472"/>
          </a:xfrm>
          <a:prstGeom prst="roundRect">
            <a:avLst/>
          </a:prstGeom>
          <a:solidFill>
            <a:srgbClr val="405A53"/>
          </a:solidFill>
          <a:ln w="8890">
            <a:solidFill>
              <a:srgbClr val="637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08976" y="4709159"/>
            <a:ext cx="1417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Specification packet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4112" y="5056631"/>
            <a:ext cx="20116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FF7A59"/>
                </a:solidFill>
                <a:latin typeface="Aptos"/>
              </a:rP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0" y="5394959"/>
            <a:ext cx="1600200" cy="347472"/>
          </a:xfrm>
          <a:prstGeom prst="roundRect">
            <a:avLst/>
          </a:prstGeom>
          <a:solidFill>
            <a:srgbClr val="405A53"/>
          </a:solidFill>
          <a:ln w="8890">
            <a:solidFill>
              <a:srgbClr val="637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08976" y="5486399"/>
            <a:ext cx="1417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Multiple manufacturers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486400"/>
            <a:ext cx="8229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DCECE7"/>
                </a:solidFill>
                <a:latin typeface="Aptos"/>
              </a:rPr>
              <a:t>We do not replace manufacturers. We help customers arrive with quote-ready requirements.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 rot="20760000">
            <a:off x="-1371600" y="1508760"/>
            <a:ext cx="9875520" cy="658368"/>
          </a:xfrm>
          <a:prstGeom prst="parallelogram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960000">
            <a:off x="8503920" y="5715000"/>
            <a:ext cx="7955279" cy="713232"/>
          </a:xfrm>
          <a:prstGeom prst="parallelogram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-822960"/>
            <a:ext cx="5303520" cy="3840480"/>
          </a:xfrm>
          <a:prstGeom prst="ellipse">
            <a:avLst/>
          </a:prstGeom>
          <a:solidFill>
            <a:srgbClr val="72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448056"/>
            <a:ext cx="393192" cy="393192"/>
          </a:xfrm>
          <a:prstGeom prst="roundRect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530352"/>
            <a:ext cx="64008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530352"/>
            <a:ext cx="146304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3584" y="530352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9F8F"/>
                </a:solidFill>
                <a:latin typeface="Aptos"/>
              </a:rPr>
              <a:t>Briefly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0" y="576072"/>
            <a:ext cx="7863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6756F"/>
                </a:solidFill>
                <a:latin typeface="Aptos"/>
              </a:rPr>
              <a:t>05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161288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F9F8F"/>
                </a:solidFill>
                <a:latin typeface="Aptos"/>
              </a:rPr>
              <a:t>THE AI SPECIFICATION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868680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0F1F1C"/>
                </a:solidFill>
                <a:latin typeface="Georgia"/>
              </a:rPr>
              <a:t>From a sentence to a manufacturable
packet.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474720"/>
            <a:ext cx="6309360" cy="2834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639312"/>
            <a:ext cx="5989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Customer intent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95928"/>
            <a:ext cx="56692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F1F1C"/>
                </a:solidFill>
                <a:latin typeface="Aptos"/>
              </a:rPr>
              <a:t>"I need a walnut study desk under my staircase."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572000"/>
            <a:ext cx="260604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" y="4736592"/>
            <a:ext cx="2286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AI clarifies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138928"/>
            <a:ext cx="2240280" cy="804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t>✓  Dimensions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t>✓  Budget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t>✓  Materials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t>✓  Doorway access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t>✓  Cable management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t>✓  Child-safe needs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4572000"/>
            <a:ext cx="260604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1" y="4736592"/>
            <a:ext cx="2286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AI generates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5138928"/>
            <a:ext cx="2240280" cy="804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Material recommendations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Cost estimate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Lead time estimate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Manufacturability checks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Simple 3D preview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Specification packet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160520"/>
            <a:ext cx="649224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4325112"/>
            <a:ext cx="6172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Funding step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4681728"/>
            <a:ext cx="19202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0F1F1C"/>
                </a:solidFill>
                <a:latin typeface="Aptos"/>
              </a:rPr>
              <a:t>Current MVP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4983480"/>
            <a:ext cx="25603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950" b="1">
                <a:solidFill>
                  <a:srgbClr val="0F1F1C"/>
                </a:solidFill>
                <a:latin typeface="Aptos"/>
              </a:defRPr>
            </a:pPr>
            <a:r>
              <a:t>✓  Requirement collection</a:t>
            </a:r>
          </a:p>
          <a:p>
            <a:pPr>
              <a:spcAft>
                <a:spcPts val="500"/>
              </a:spcAft>
              <a:defRPr sz="950" b="1">
                <a:solidFill>
                  <a:srgbClr val="0F1F1C"/>
                </a:solidFill>
                <a:latin typeface="Aptos"/>
              </a:defRPr>
            </a:pPr>
            <a:r>
              <a:t>✓  Manufacturer discovery</a:t>
            </a:r>
          </a:p>
          <a:p>
            <a:pPr>
              <a:spcAft>
                <a:spcPts val="500"/>
              </a:spcAft>
              <a:defRPr sz="950" b="1">
                <a:solidFill>
                  <a:srgbClr val="0F1F1C"/>
                </a:solidFill>
                <a:latin typeface="Aptos"/>
              </a:defRPr>
            </a:pPr>
            <a:r>
              <a:t>✓  Quotation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4681728"/>
            <a:ext cx="19202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0F1F1C"/>
                </a:solidFill>
                <a:latin typeface="Aptos"/>
              </a:rPr>
              <a:t>Next phase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4983480"/>
            <a:ext cx="256032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9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AI clarification engine</a:t>
            </a:r>
          </a:p>
          <a:p>
            <a:pPr>
              <a:spcAft>
                <a:spcPts val="500"/>
              </a:spcAft>
              <a:defRPr sz="9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Specification packet</a:t>
            </a:r>
          </a:p>
          <a:p>
            <a:pPr>
              <a:spcAft>
                <a:spcPts val="500"/>
              </a:spcAft>
              <a:defRPr sz="9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Material recommendation</a:t>
            </a:r>
          </a:p>
          <a:p>
            <a:pPr>
              <a:spcAft>
                <a:spcPts val="500"/>
              </a:spcAft>
              <a:defRPr sz="9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Cost estimation</a:t>
            </a:r>
          </a:p>
          <a:p>
            <a:pPr>
              <a:spcAft>
                <a:spcPts val="500"/>
              </a:spcAft>
              <a:defRPr sz="9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3D preview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 rot="20760000">
            <a:off x="-1371600" y="1508760"/>
            <a:ext cx="9875520" cy="658368"/>
          </a:xfrm>
          <a:prstGeom prst="parallelogram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960000">
            <a:off x="8503920" y="5715000"/>
            <a:ext cx="7955279" cy="713232"/>
          </a:xfrm>
          <a:prstGeom prst="parallelogram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-822960"/>
            <a:ext cx="5303520" cy="3840480"/>
          </a:xfrm>
          <a:prstGeom prst="ellipse">
            <a:avLst/>
          </a:prstGeom>
          <a:solidFill>
            <a:srgbClr val="72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448056"/>
            <a:ext cx="393192" cy="393192"/>
          </a:xfrm>
          <a:prstGeom prst="roundRect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530352"/>
            <a:ext cx="64008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530352"/>
            <a:ext cx="146304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3584" y="530352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9F8F"/>
                </a:solidFill>
                <a:latin typeface="Aptos"/>
              </a:rPr>
              <a:t>Briefly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0" y="576072"/>
            <a:ext cx="7863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6756F"/>
                </a:solidFill>
                <a:latin typeface="Aptos"/>
              </a:rPr>
              <a:t>06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161288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F9F8F"/>
                </a:solidFill>
                <a:latin typeface="Aptos"/>
              </a:rPr>
              <a:t>OUR 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841248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800" b="1">
                <a:solidFill>
                  <a:srgbClr val="0F1F1C"/>
                </a:solidFill>
                <a:latin typeface="Georgia"/>
              </a:rPr>
              <a:t>Build. Validate. Improve.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749039"/>
            <a:ext cx="324612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913631"/>
            <a:ext cx="292607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Current MVP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315968"/>
            <a:ext cx="2880360" cy="1033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t>✓  Browse custom furniture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t>✓  Submit requirements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t>✓  Receive quotations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t>✓  Compare manufacturers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t>✓  Place 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3749039"/>
            <a:ext cx="324612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913631"/>
            <a:ext cx="292607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Why we started 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4315968"/>
            <a:ext cx="2880360" cy="1033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Validate the workflow first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Learn from real users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Avoid unnecessary features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Prove demand before scaling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650992"/>
            <a:ext cx="36576" cy="457200"/>
          </a:xfrm>
          <a:prstGeom prst="rect">
            <a:avLst/>
          </a:prstGeom>
          <a:solidFill>
            <a:srgbClr val="0F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9536" y="5650992"/>
            <a:ext cx="65471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833872"/>
            <a:ext cx="6172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0F1F1C"/>
                </a:solidFill>
                <a:latin typeface="Aptos"/>
              </a:rPr>
              <a:t>Validate first. Build second. Scale third.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743200"/>
            <a:ext cx="6400800" cy="4389120"/>
          </a:xfrm>
          <a:prstGeom prst="roundRect">
            <a:avLst/>
          </a:prstGeom>
          <a:solidFill>
            <a:srgbClr val="122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63840" y="2907792"/>
            <a:ext cx="91440" cy="91440"/>
          </a:xfrm>
          <a:prstGeom prst="ellipse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19288" y="2907792"/>
            <a:ext cx="91440" cy="9144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74736" y="2907792"/>
            <a:ext cx="91440" cy="91440"/>
          </a:xfrm>
          <a:prstGeom prst="ellipse">
            <a:avLst/>
          </a:prstGeom>
          <a:solidFill>
            <a:srgbClr val="72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prototype-a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1" y="3182112"/>
            <a:ext cx="6071616" cy="38221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 rot="20760000">
            <a:off x="-1371600" y="1508760"/>
            <a:ext cx="9875520" cy="658368"/>
          </a:xfrm>
          <a:prstGeom prst="parallelogram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960000">
            <a:off x="8503920" y="5715000"/>
            <a:ext cx="7955279" cy="713232"/>
          </a:xfrm>
          <a:prstGeom prst="parallelogram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-822960"/>
            <a:ext cx="5303520" cy="3840480"/>
          </a:xfrm>
          <a:prstGeom prst="ellipse">
            <a:avLst/>
          </a:prstGeom>
          <a:solidFill>
            <a:srgbClr val="72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448056"/>
            <a:ext cx="393192" cy="393192"/>
          </a:xfrm>
          <a:prstGeom prst="roundRect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530352"/>
            <a:ext cx="64008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530352"/>
            <a:ext cx="146304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3584" y="530352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9F8F"/>
                </a:solidFill>
                <a:latin typeface="Aptos"/>
              </a:rPr>
              <a:t>Briefly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0" y="576072"/>
            <a:ext cx="7863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6756F"/>
                </a:solidFill>
                <a:latin typeface="Aptos"/>
              </a:rPr>
              <a:t>07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161288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F9F8F"/>
                </a:solidFill>
                <a:latin typeface="Aptos"/>
              </a:rPr>
              <a:t>BUILT. TESTED. PIVOTED.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841248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00" b="1">
                <a:solidFill>
                  <a:srgbClr val="0F1F1C"/>
                </a:solidFill>
                <a:latin typeface="Georgia"/>
              </a:rPr>
              <a:t>We challenged our assumptions.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331720"/>
            <a:ext cx="1600200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423160"/>
            <a:ext cx="1417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0F1F1C"/>
                </a:solidFill>
                <a:latin typeface="Aptos"/>
              </a:rPr>
              <a:t>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2404872"/>
            <a:ext cx="20116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FF7A59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70632" y="2331720"/>
            <a:ext cx="1600200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98648" y="2423160"/>
            <a:ext cx="1417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0F1F1C"/>
                </a:solidFill>
                <a:latin typeface="Aptos"/>
              </a:rPr>
              <a:t>Marketplace MVP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404872"/>
            <a:ext cx="20116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FF7A59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8032" y="2331720"/>
            <a:ext cx="1600200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6048" y="2423160"/>
            <a:ext cx="1417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0F1F1C"/>
                </a:solidFill>
                <a:latin typeface="Aptos"/>
              </a:rPr>
              <a:t>Survey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2404872"/>
            <a:ext cx="20116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FF7A59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85432" y="2331720"/>
            <a:ext cx="1600200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13448" y="2423160"/>
            <a:ext cx="1417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0F1F1C"/>
                </a:solidFill>
                <a:latin typeface="Aptos"/>
              </a:rPr>
              <a:t>Manufacturer interviews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2404872"/>
            <a:ext cx="20116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FF7A59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2832" y="2331720"/>
            <a:ext cx="1600200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0848" y="2423160"/>
            <a:ext cx="1417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0F1F1C"/>
                </a:solidFill>
                <a:latin typeface="Aptos"/>
              </a:rPr>
              <a:t>Specification Internet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3063240"/>
            <a:ext cx="1307592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3063240"/>
            <a:ext cx="3657600" cy="393192"/>
          </a:xfrm>
          <a:prstGeom prst="rect">
            <a:avLst/>
          </a:prstGeom>
          <a:solidFill>
            <a:srgbClr val="12231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182112"/>
            <a:ext cx="342900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User feedback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70832" y="3063240"/>
            <a:ext cx="4709160" cy="393192"/>
          </a:xfrm>
          <a:prstGeom prst="rect">
            <a:avLst/>
          </a:prstGeom>
          <a:solidFill>
            <a:srgbClr val="12231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98848" y="3182112"/>
            <a:ext cx="44805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Product improvement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79992" y="3063240"/>
            <a:ext cx="4709160" cy="393192"/>
          </a:xfrm>
          <a:prstGeom prst="rect">
            <a:avLst/>
          </a:prstGeom>
          <a:solidFill>
            <a:srgbClr val="12231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08008" y="3182112"/>
            <a:ext cx="44805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Strategic result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3456432"/>
            <a:ext cx="365760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3575304"/>
            <a:ext cx="342900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Customers struggle to explain requirements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70832" y="3456432"/>
            <a:ext cx="47091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98848" y="3575304"/>
            <a:ext cx="44805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AI clarification workflow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79992" y="3456432"/>
            <a:ext cx="47091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3575304"/>
            <a:ext cx="44805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Less vague demand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" y="3849624"/>
            <a:ext cx="365760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3968496"/>
            <a:ext cx="342900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Manufacturers ask repetitive questions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70832" y="3849624"/>
            <a:ext cx="47091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98848" y="3968496"/>
            <a:ext cx="44805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Specification packet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79992" y="3849624"/>
            <a:ext cx="47091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08008" y="3968496"/>
            <a:ext cx="44805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Faster quotation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" y="4242816"/>
            <a:ext cx="365760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4361688"/>
            <a:ext cx="342900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Specifications are inconsistent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70832" y="4242816"/>
            <a:ext cx="47091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98848" y="4361688"/>
            <a:ext cx="44805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Universal structured format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79992" y="4242816"/>
            <a:ext cx="47091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08008" y="4361688"/>
            <a:ext cx="44805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Comparable bids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232" y="4636008"/>
            <a:ext cx="365760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" y="4754880"/>
            <a:ext cx="342900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MVP too broad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70832" y="4636008"/>
            <a:ext cx="47091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98848" y="4754880"/>
            <a:ext cx="44805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Focus on custom wooden furniture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79992" y="4636008"/>
            <a:ext cx="47091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08008" y="4754880"/>
            <a:ext cx="44805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Sharper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 rot="20760000">
            <a:off x="-1371600" y="1508760"/>
            <a:ext cx="9875520" cy="658368"/>
          </a:xfrm>
          <a:prstGeom prst="parallelogram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960000">
            <a:off x="8503920" y="5715000"/>
            <a:ext cx="7955279" cy="713232"/>
          </a:xfrm>
          <a:prstGeom prst="parallelogram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-822960"/>
            <a:ext cx="5303520" cy="3840480"/>
          </a:xfrm>
          <a:prstGeom prst="ellipse">
            <a:avLst/>
          </a:prstGeom>
          <a:solidFill>
            <a:srgbClr val="72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448056"/>
            <a:ext cx="393192" cy="393192"/>
          </a:xfrm>
          <a:prstGeom prst="roundRect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530352"/>
            <a:ext cx="64008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530352"/>
            <a:ext cx="146304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3584" y="530352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9F8F"/>
                </a:solidFill>
                <a:latin typeface="Aptos"/>
              </a:rPr>
              <a:t>Briefly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0" y="576072"/>
            <a:ext cx="7863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6756F"/>
                </a:solidFill>
                <a:latin typeface="Aptos"/>
              </a:rPr>
              <a:t>08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161288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F9F8F"/>
                </a:solidFill>
                <a:latin typeface="Aptos"/>
              </a:rPr>
              <a:t>MARKET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731520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800" b="1">
                <a:solidFill>
                  <a:srgbClr val="0F1F1C"/>
                </a:solidFill>
                <a:latin typeface="Georgia"/>
              </a:rPr>
              <a:t>Validated by customers and
manufacturers.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834640"/>
            <a:ext cx="630936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999232"/>
            <a:ext cx="5989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Customer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401568"/>
            <a:ext cx="5943600" cy="1033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XX respondents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XX% could not find exactly what they wanted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XX% compromised or gave up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XX% found the AI workflow valuable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XX waitlist signups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834640"/>
            <a:ext cx="630936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71231" y="2999232"/>
            <a:ext cx="5989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Manufacturer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3401568"/>
            <a:ext cx="5943600" cy="1033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t>✓  5/5 reported missing specifications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t>✓  5/5 spend significant time clarifying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t>✓  5/5 said standardized specs reduce effort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t>✓  4/5 interested in piloting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800600"/>
            <a:ext cx="36576" cy="896112"/>
          </a:xfrm>
          <a:prstGeom prst="rect">
            <a:avLst/>
          </a:prstGeom>
          <a:solidFill>
            <a:srgbClr val="0F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9536" y="4800600"/>
            <a:ext cx="7827264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983480"/>
            <a:ext cx="7452360" cy="694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F1F1C"/>
                </a:solidFill>
                <a:latin typeface="Aptos"/>
              </a:rPr>
              <a:t>"If your AI can tell customers their budget does not match their material choice before they talk to me,
you save me 80% of my nightly headaches."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376672"/>
            <a:ext cx="74523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66756F"/>
                </a:solidFill>
                <a:latin typeface="Aptos"/>
              </a:rPr>
              <a:t>WD Custom Woodcraft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 rot="20760000">
            <a:off x="-1371600" y="1508760"/>
            <a:ext cx="9875520" cy="658368"/>
          </a:xfrm>
          <a:prstGeom prst="parallelogram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960000">
            <a:off x="8503920" y="5715000"/>
            <a:ext cx="7955279" cy="713232"/>
          </a:xfrm>
          <a:prstGeom prst="parallelogram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-822960"/>
            <a:ext cx="5303520" cy="3840480"/>
          </a:xfrm>
          <a:prstGeom prst="ellipse">
            <a:avLst/>
          </a:prstGeom>
          <a:solidFill>
            <a:srgbClr val="72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448056"/>
            <a:ext cx="393192" cy="393192"/>
          </a:xfrm>
          <a:prstGeom prst="roundRect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530352"/>
            <a:ext cx="64008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530352"/>
            <a:ext cx="146304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3584" y="530352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9F8F"/>
                </a:solidFill>
                <a:latin typeface="Aptos"/>
              </a:rPr>
              <a:t>Briefly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0" y="576072"/>
            <a:ext cx="7863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6756F"/>
                </a:solidFill>
                <a:latin typeface="Aptos"/>
              </a:rPr>
              <a:t>09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161288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F9F8F"/>
                </a:solidFill>
                <a:latin typeface="Aptos"/>
              </a:rPr>
              <a:t>WHY EXISTING SOLUTIONS FALL SHORT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886968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0F1F1C"/>
                </a:solidFill>
                <a:latin typeface="Georgia"/>
              </a:rPr>
              <a:t>Existing platforms help people find
products. We help people define what
they need.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154680"/>
            <a:ext cx="13075920" cy="21396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3154680"/>
            <a:ext cx="3657600" cy="356616"/>
          </a:xfrm>
          <a:prstGeom prst="rect">
            <a:avLst/>
          </a:prstGeom>
          <a:solidFill>
            <a:srgbClr val="12231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273552"/>
            <a:ext cx="342900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370832" y="3154680"/>
            <a:ext cx="4709160" cy="356616"/>
          </a:xfrm>
          <a:prstGeom prst="rect">
            <a:avLst/>
          </a:prstGeom>
          <a:solidFill>
            <a:srgbClr val="12231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3273552"/>
            <a:ext cx="448056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Existing solutions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79992" y="3154680"/>
            <a:ext cx="4709160" cy="356616"/>
          </a:xfrm>
          <a:prstGeom prst="rect">
            <a:avLst/>
          </a:prstGeom>
          <a:solidFill>
            <a:srgbClr val="12231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8008" y="3273552"/>
            <a:ext cx="448056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The Specification Internet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3511296"/>
            <a:ext cx="365760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630168"/>
            <a:ext cx="342900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Starting point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3511296"/>
            <a:ext cx="470916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3630168"/>
            <a:ext cx="448056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Products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79992" y="3511296"/>
            <a:ext cx="470916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8008" y="3630168"/>
            <a:ext cx="448056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Human intent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3867912"/>
            <a:ext cx="365760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986784"/>
            <a:ext cx="342900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Workflow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70832" y="3867912"/>
            <a:ext cx="470916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3986784"/>
            <a:ext cx="448056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Search and compromise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79992" y="3867912"/>
            <a:ext cx="470916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08008" y="3986784"/>
            <a:ext cx="448056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AI clarification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4224528"/>
            <a:ext cx="365760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343400"/>
            <a:ext cx="342900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Specifications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70832" y="4224528"/>
            <a:ext cx="470916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98848" y="4343400"/>
            <a:ext cx="448056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Manual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79992" y="4224528"/>
            <a:ext cx="470916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08008" y="4343400"/>
            <a:ext cx="448056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Standardized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4581144"/>
            <a:ext cx="365760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4700016"/>
            <a:ext cx="342900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Quotations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70832" y="4581144"/>
            <a:ext cx="470916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98848" y="4700016"/>
            <a:ext cx="448056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One manufacturer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79992" y="4581144"/>
            <a:ext cx="470916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08008" y="4700016"/>
            <a:ext cx="448056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Competitive bidding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" y="4937760"/>
            <a:ext cx="365760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5056632"/>
            <a:ext cx="342900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Innovation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70832" y="4937760"/>
            <a:ext cx="470916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98848" y="5056632"/>
            <a:ext cx="448056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Marketplace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79992" y="4937760"/>
            <a:ext cx="470916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08008" y="5056632"/>
            <a:ext cx="448056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F1C"/>
                </a:solidFill>
                <a:latin typeface="Aptos"/>
              </a:rPr>
              <a:t>Specification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 rot="20760000">
            <a:off x="-1371600" y="1508760"/>
            <a:ext cx="9875520" cy="658368"/>
          </a:xfrm>
          <a:prstGeom prst="parallelogram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960000">
            <a:off x="8503920" y="5715000"/>
            <a:ext cx="7955279" cy="713232"/>
          </a:xfrm>
          <a:prstGeom prst="parallelogram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-822960"/>
            <a:ext cx="5303520" cy="3840480"/>
          </a:xfrm>
          <a:prstGeom prst="ellipse">
            <a:avLst/>
          </a:prstGeom>
          <a:solidFill>
            <a:srgbClr val="72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448056"/>
            <a:ext cx="393192" cy="393192"/>
          </a:xfrm>
          <a:prstGeom prst="roundRect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530352"/>
            <a:ext cx="64008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530352"/>
            <a:ext cx="146304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3584" y="530352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9F8F"/>
                </a:solidFill>
                <a:latin typeface="Aptos"/>
              </a:rPr>
              <a:t>Briefly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0" y="576072"/>
            <a:ext cx="7863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6756F"/>
                </a:solidFill>
                <a:latin typeface="Aptos"/>
              </a:rPr>
              <a:t>10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161288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F9F8F"/>
                </a:solidFill>
                <a:latin typeface="Aptos"/>
              </a:rPr>
              <a:t>MARKET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731520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00" b="1">
                <a:solidFill>
                  <a:srgbClr val="0F1F1C"/>
                </a:solidFill>
                <a:latin typeface="Georgia"/>
              </a:rPr>
              <a:t>A focused wedge into custom
manufacturing.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834640"/>
            <a:ext cx="429768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999232"/>
            <a:ext cx="39776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Phase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456432"/>
            <a:ext cx="397764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Singapore custom wooden furniture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2834640"/>
            <a:ext cx="429768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6672" y="2999232"/>
            <a:ext cx="39776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401568"/>
            <a:ext cx="3931920" cy="804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Wardrobes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Kitchen cabinets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Office furniture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Retail displays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10928" y="2834640"/>
            <a:ext cx="429768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19" y="2999232"/>
            <a:ext cx="39776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93807" y="3401568"/>
            <a:ext cx="3931920" cy="804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Commercial fit-out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Renovation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Custom manufacturing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663440"/>
            <a:ext cx="2057400" cy="731520"/>
          </a:xfrm>
          <a:prstGeom prst="roundRect">
            <a:avLst/>
          </a:prstGeom>
          <a:solidFill>
            <a:srgbClr val="122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4828032"/>
            <a:ext cx="10058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72E0C9"/>
                </a:solidFill>
                <a:latin typeface="Aptos"/>
              </a:rPr>
              <a:t>TAM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138928"/>
            <a:ext cx="17373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Aptos"/>
              </a:rPr>
              <a:t>Global custom manufacturing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71800" y="4663440"/>
            <a:ext cx="2057400" cy="731520"/>
          </a:xfrm>
          <a:prstGeom prst="roundRect">
            <a:avLst/>
          </a:prstGeom>
          <a:solidFill>
            <a:srgbClr val="122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18104" y="4828032"/>
            <a:ext cx="10058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72E0C9"/>
                </a:solidFill>
                <a:latin typeface="Aptos"/>
              </a:rPr>
              <a:t>SAM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18104" y="5138928"/>
            <a:ext cx="17373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Aptos"/>
              </a:rPr>
              <a:t>Singapore custom furniture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30368" y="4663440"/>
            <a:ext cx="2057400" cy="731520"/>
          </a:xfrm>
          <a:prstGeom prst="roundRect">
            <a:avLst/>
          </a:prstGeom>
          <a:solidFill>
            <a:srgbClr val="122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76672" y="4828032"/>
            <a:ext cx="10058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72E0C9"/>
                </a:solidFill>
                <a:latin typeface="Aptos"/>
              </a:rPr>
              <a:t>SOM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76672" y="5138928"/>
            <a:ext cx="17373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Aptos"/>
              </a:rPr>
              <a:t>500 users, 100 specs, 30 projects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596128"/>
            <a:ext cx="36576" cy="658368"/>
          </a:xfrm>
          <a:prstGeom prst="rect">
            <a:avLst/>
          </a:prstGeom>
          <a:solidFill>
            <a:srgbClr val="0F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9536" y="5596128"/>
            <a:ext cx="8010144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779008"/>
            <a:ext cx="7635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0F1F1C"/>
                </a:solidFill>
                <a:latin typeface="Aptos"/>
              </a:rPr>
              <a:t>Long-term vision: a universal specification layer connecting customers and manufacturers
worldwide.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 rot="20760000">
            <a:off x="-1371600" y="1508760"/>
            <a:ext cx="9875520" cy="658368"/>
          </a:xfrm>
          <a:prstGeom prst="parallelogram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960000">
            <a:off x="8503920" y="5715000"/>
            <a:ext cx="7955279" cy="713232"/>
          </a:xfrm>
          <a:prstGeom prst="parallelogram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-822960"/>
            <a:ext cx="5303520" cy="3840480"/>
          </a:xfrm>
          <a:prstGeom prst="ellipse">
            <a:avLst/>
          </a:prstGeom>
          <a:solidFill>
            <a:srgbClr val="72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448056"/>
            <a:ext cx="393192" cy="393192"/>
          </a:xfrm>
          <a:prstGeom prst="roundRect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530352"/>
            <a:ext cx="64008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530352"/>
            <a:ext cx="146304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3584" y="530352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9F8F"/>
                </a:solidFill>
                <a:latin typeface="Aptos"/>
              </a:rPr>
              <a:t>Briefly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0" y="576072"/>
            <a:ext cx="7863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6756F"/>
                </a:solidFill>
                <a:latin typeface="Aptos"/>
              </a:rPr>
              <a:t>11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161288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F9F8F"/>
                </a:solidFill>
                <a:latin typeface="Aptos"/>
              </a:rPr>
              <a:t>BUSINESS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50976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800" b="1">
                <a:solidFill>
                  <a:srgbClr val="0F1F1C"/>
                </a:solidFill>
                <a:latin typeface="Georgia"/>
              </a:rPr>
              <a:t>Manufacturers pay when we create real
business.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834640"/>
            <a:ext cx="6309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999232"/>
            <a:ext cx="5989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Today: marketplace commission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456432"/>
            <a:ext cx="5989320" cy="521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Small commission on successfully completed projects.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834640"/>
            <a:ext cx="6309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71231" y="2999232"/>
            <a:ext cx="5989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Future: manufacturer SaaS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3401568"/>
            <a:ext cx="59436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AI quotation assistant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Specification management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Workflow automation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343400"/>
            <a:ext cx="6309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507992"/>
            <a:ext cx="5989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Enterprise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965192"/>
            <a:ext cx="5989320" cy="521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Integrate the Specification Engine into manufacturing software.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4343400"/>
            <a:ext cx="6309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1" y="4507992"/>
            <a:ext cx="5989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Premium AI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4910328"/>
            <a:ext cx="59436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Advanced design refinement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Specification history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Enhanced 3D previews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 rot="20760000">
            <a:off x="-1371600" y="1508760"/>
            <a:ext cx="9875520" cy="658368"/>
          </a:xfrm>
          <a:prstGeom prst="parallelogram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960000">
            <a:off x="8503920" y="5715000"/>
            <a:ext cx="7955279" cy="713232"/>
          </a:xfrm>
          <a:prstGeom prst="parallelogram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-822960"/>
            <a:ext cx="5303520" cy="3840480"/>
          </a:xfrm>
          <a:prstGeom prst="ellipse">
            <a:avLst/>
          </a:prstGeom>
          <a:solidFill>
            <a:srgbClr val="72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448056"/>
            <a:ext cx="393192" cy="393192"/>
          </a:xfrm>
          <a:prstGeom prst="roundRect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530352"/>
            <a:ext cx="64008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530352"/>
            <a:ext cx="146304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3584" y="530352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9F8F"/>
                </a:solidFill>
                <a:latin typeface="Aptos"/>
              </a:rPr>
              <a:t>Briefly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0" y="576072"/>
            <a:ext cx="7863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6756F"/>
                </a:solidFill>
                <a:latin typeface="Aptos"/>
              </a:rPr>
              <a:t>12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161288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F9F8F"/>
                </a:solidFill>
                <a:latin typeface="Aptos"/>
              </a:rPr>
              <a:t>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731520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800" b="1">
                <a:solidFill>
                  <a:srgbClr val="0F1F1C"/>
                </a:solidFill>
                <a:latin typeface="Georgia"/>
              </a:rPr>
              <a:t>From MVP to public beta.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651760"/>
            <a:ext cx="24231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816352"/>
            <a:ext cx="21031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Already achieved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273552"/>
            <a:ext cx="2103120" cy="521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Marketplace MVP,
survey, interviews, pivot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1" y="2651760"/>
            <a:ext cx="24231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816352"/>
            <a:ext cx="21031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0-3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3273552"/>
            <a:ext cx="2103120" cy="521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AI clarification engine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6752" y="2651760"/>
            <a:ext cx="24231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1344" y="2816352"/>
            <a:ext cx="21031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4-6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3273552"/>
            <a:ext cx="2103120" cy="521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Spec packet and material
recommendation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68511" y="2651760"/>
            <a:ext cx="24231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33103" y="2816352"/>
            <a:ext cx="21031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7-9 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3" y="3273552"/>
            <a:ext cx="2103120" cy="521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Pilot with 5-10
manufacturers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20272" y="2651760"/>
            <a:ext cx="24231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84863" y="2816352"/>
            <a:ext cx="21031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10-12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84863" y="3273552"/>
            <a:ext cx="2103120" cy="521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Public beta launch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206240"/>
            <a:ext cx="1417320" cy="731520"/>
          </a:xfrm>
          <a:prstGeom prst="roundRect">
            <a:avLst/>
          </a:prstGeom>
          <a:solidFill>
            <a:srgbClr val="122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4370832"/>
            <a:ext cx="8229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72E0C9"/>
                </a:solidFill>
                <a:latin typeface="Aptos"/>
              </a:rPr>
              <a:t>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4663440"/>
            <a:ext cx="11430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69" b="1">
                <a:solidFill>
                  <a:srgbClr val="FFFFFF"/>
                </a:solidFill>
                <a:latin typeface="Aptos"/>
              </a:rPr>
              <a:t>users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31720" y="4206240"/>
            <a:ext cx="1417320" cy="731520"/>
          </a:xfrm>
          <a:prstGeom prst="roundRect">
            <a:avLst/>
          </a:prstGeom>
          <a:solidFill>
            <a:srgbClr val="122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79" y="4370832"/>
            <a:ext cx="8229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72E0C9"/>
                </a:solidFill>
                <a:latin typeface="Aptos"/>
              </a:rPr>
              <a:t>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79" y="4663440"/>
            <a:ext cx="11430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69" b="1">
                <a:solidFill>
                  <a:srgbClr val="FFFFFF"/>
                </a:solidFill>
                <a:latin typeface="Aptos"/>
              </a:rPr>
              <a:t>specifications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50208" y="4206240"/>
            <a:ext cx="1417320" cy="731520"/>
          </a:xfrm>
          <a:prstGeom prst="roundRect">
            <a:avLst/>
          </a:prstGeom>
          <a:solidFill>
            <a:srgbClr val="122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87368" y="4370832"/>
            <a:ext cx="8229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72E0C9"/>
                </a:solidFill>
                <a:latin typeface="Aptos"/>
              </a:rPr>
              <a:t>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87368" y="4663440"/>
            <a:ext cx="11430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69" b="1">
                <a:solidFill>
                  <a:srgbClr val="FFFFFF"/>
                </a:solidFill>
                <a:latin typeface="Aptos"/>
              </a:rPr>
              <a:t>completed projects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68696" y="4206240"/>
            <a:ext cx="1417320" cy="731520"/>
          </a:xfrm>
          <a:prstGeom prst="roundRect">
            <a:avLst/>
          </a:prstGeom>
          <a:solidFill>
            <a:srgbClr val="122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05856" y="4370832"/>
            <a:ext cx="8229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72E0C9"/>
                </a:solidFill>
                <a:latin typeface="Aptos"/>
              </a:rPr>
              <a:t>5-10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05856" y="4663440"/>
            <a:ext cx="11430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69" b="1">
                <a:solidFill>
                  <a:srgbClr val="FFFFFF"/>
                </a:solidFill>
                <a:latin typeface="Aptos"/>
              </a:rPr>
              <a:t>manufacturer partners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 rot="20760000">
            <a:off x="-1371600" y="1508760"/>
            <a:ext cx="9875520" cy="658368"/>
          </a:xfrm>
          <a:prstGeom prst="parallelogram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960000">
            <a:off x="8503920" y="5715000"/>
            <a:ext cx="7955279" cy="713232"/>
          </a:xfrm>
          <a:prstGeom prst="parallelogram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-822960"/>
            <a:ext cx="5303520" cy="3840480"/>
          </a:xfrm>
          <a:prstGeom prst="ellipse">
            <a:avLst/>
          </a:prstGeom>
          <a:solidFill>
            <a:srgbClr val="72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448056"/>
            <a:ext cx="393192" cy="393192"/>
          </a:xfrm>
          <a:prstGeom prst="roundRect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530352"/>
            <a:ext cx="64008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530352"/>
            <a:ext cx="146304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3584" y="530352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9F8F"/>
                </a:solidFill>
                <a:latin typeface="Aptos"/>
              </a:rPr>
              <a:t>Briefly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0" y="576072"/>
            <a:ext cx="7863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6756F"/>
                </a:solidFill>
                <a:latin typeface="Aptos"/>
              </a:rPr>
              <a:t>13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161288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F9F8F"/>
                </a:solidFill>
                <a:latin typeface="Aptos"/>
              </a:rPr>
              <a:t>ABOUT 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841248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800" b="1">
                <a:solidFill>
                  <a:srgbClr val="0F1F1C"/>
                </a:solidFill>
                <a:latin typeface="Georgia"/>
              </a:rPr>
              <a:t>Meet the team building Briefly.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331720"/>
            <a:ext cx="416052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iraj.jpg"/>
          <p:cNvPicPr>
            <a:picLocks noChangeAspect="1"/>
          </p:cNvPicPr>
          <p:nvPr/>
        </p:nvPicPr>
        <p:blipFill>
          <a:blip r:embed="rId2"/>
          <a:srcRect t="26430" b="20766"/>
          <a:stretch>
            <a:fillRect/>
          </a:stretch>
        </p:blipFill>
        <p:spPr>
          <a:xfrm>
            <a:off x="877824" y="2496312"/>
            <a:ext cx="3831335" cy="26974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50976" y="5385816"/>
            <a:ext cx="841248" cy="310896"/>
          </a:xfrm>
          <a:prstGeom prst="roundRect">
            <a:avLst/>
          </a:prstGeom>
          <a:solidFill>
            <a:srgbClr val="122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5468112"/>
            <a:ext cx="4572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72E0C9"/>
                </a:solidFill>
                <a:latin typeface="Aptos"/>
              </a:rPr>
              <a:t>CEO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5824727"/>
            <a:ext cx="3685031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1">
                <a:solidFill>
                  <a:srgbClr val="0F1F1C"/>
                </a:solidFill>
                <a:latin typeface="Aptos"/>
              </a:rPr>
              <a:t>Mohamed Sirajudeen Bin Mohamed Rabik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6318504"/>
            <a:ext cx="3685031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0F9F8F"/>
                </a:solidFill>
                <a:latin typeface="Aptos"/>
              </a:rPr>
              <a:t>Siraj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6647688"/>
            <a:ext cx="3685031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66756F"/>
                </a:solidFill>
                <a:latin typeface="Aptos"/>
              </a:rPr>
              <a:t>Leads product direction, customer discovery, and the overall Briefly vision.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30368" y="2331720"/>
            <a:ext cx="416052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hanis.jpg"/>
          <p:cNvPicPr>
            <a:picLocks noChangeAspect="1"/>
          </p:cNvPicPr>
          <p:nvPr/>
        </p:nvPicPr>
        <p:blipFill>
          <a:blip r:embed="rId3"/>
          <a:srcRect t="12607" b="17409"/>
          <a:stretch>
            <a:fillRect/>
          </a:stretch>
        </p:blipFill>
        <p:spPr>
          <a:xfrm>
            <a:off x="5394959" y="2496312"/>
            <a:ext cx="3831335" cy="269748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468112" y="5385816"/>
            <a:ext cx="841248" cy="310896"/>
          </a:xfrm>
          <a:prstGeom prst="roundRect">
            <a:avLst/>
          </a:prstGeom>
          <a:solidFill>
            <a:srgbClr val="122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59" y="5468112"/>
            <a:ext cx="4572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72E0C9"/>
                </a:solidFill>
                <a:latin typeface="Aptos"/>
              </a:rPr>
              <a:t>CFO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68112" y="5824727"/>
            <a:ext cx="3685031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1">
                <a:solidFill>
                  <a:srgbClr val="0F1F1C"/>
                </a:solidFill>
                <a:latin typeface="Aptos"/>
              </a:rPr>
              <a:t>Thanis Senthilkumas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8112" y="6318504"/>
            <a:ext cx="3685031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0F9F8F"/>
                </a:solidFill>
                <a:latin typeface="Aptos"/>
              </a:rPr>
              <a:t>Thanis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68112" y="6647688"/>
            <a:ext cx="3685031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66756F"/>
                </a:solidFill>
                <a:latin typeface="Aptos"/>
              </a:rPr>
              <a:t>Owns finance, business modelling, and validation of the commercial strategy.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47504" y="2331720"/>
            <a:ext cx="416052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herwin.jpg"/>
          <p:cNvPicPr>
            <a:picLocks noChangeAspect="1"/>
          </p:cNvPicPr>
          <p:nvPr/>
        </p:nvPicPr>
        <p:blipFill>
          <a:blip r:embed="rId4"/>
          <a:srcRect t="2278" b="3717"/>
          <a:stretch>
            <a:fillRect/>
          </a:stretch>
        </p:blipFill>
        <p:spPr>
          <a:xfrm>
            <a:off x="9912096" y="2496312"/>
            <a:ext cx="3831335" cy="269748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985248" y="5385816"/>
            <a:ext cx="841248" cy="310896"/>
          </a:xfrm>
          <a:prstGeom prst="roundRect">
            <a:avLst/>
          </a:prstGeom>
          <a:solidFill>
            <a:srgbClr val="122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0696" y="5468112"/>
            <a:ext cx="4572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72E0C9"/>
                </a:solidFill>
                <a:latin typeface="Aptos"/>
              </a:rPr>
              <a:t>CTO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85248" y="5824727"/>
            <a:ext cx="3685031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1">
                <a:solidFill>
                  <a:srgbClr val="0F1F1C"/>
                </a:solidFill>
                <a:latin typeface="Aptos"/>
              </a:rPr>
              <a:t>Sherwin Rufus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85248" y="6318504"/>
            <a:ext cx="3685031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0F9F8F"/>
                </a:solidFill>
                <a:latin typeface="Aptos"/>
              </a:rPr>
              <a:t>Sherwin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85248" y="6647688"/>
            <a:ext cx="3685031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66756F"/>
                </a:solidFill>
                <a:latin typeface="Aptos"/>
              </a:rPr>
              <a:t>Drives engineering, technical execution, and the AI specification roadmap.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 rot="20760000">
            <a:off x="-1371600" y="1508760"/>
            <a:ext cx="9875520" cy="658368"/>
          </a:xfrm>
          <a:prstGeom prst="parallelogram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960000">
            <a:off x="8503920" y="5715000"/>
            <a:ext cx="7955279" cy="713232"/>
          </a:xfrm>
          <a:prstGeom prst="parallelogram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-822960"/>
            <a:ext cx="5303520" cy="3840480"/>
          </a:xfrm>
          <a:prstGeom prst="ellipse">
            <a:avLst/>
          </a:prstGeom>
          <a:solidFill>
            <a:srgbClr val="72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448056"/>
            <a:ext cx="393192" cy="393192"/>
          </a:xfrm>
          <a:prstGeom prst="roundRect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530352"/>
            <a:ext cx="64008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530352"/>
            <a:ext cx="146304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3584" y="530352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9F8F"/>
                </a:solidFill>
                <a:latin typeface="Aptos"/>
              </a:rPr>
              <a:t>Briefly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0" y="576072"/>
            <a:ext cx="7863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6756F"/>
                </a:solidFill>
                <a:latin typeface="Aptos"/>
              </a:rPr>
              <a:t>14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161288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F9F8F"/>
                </a:solidFill>
                <a:latin typeface="Aptos"/>
              </a:rPr>
              <a:t>WHY WE ARE THE RIGHT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50976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00" b="1">
                <a:solidFill>
                  <a:srgbClr val="0F1F1C"/>
                </a:solidFill>
                <a:latin typeface="Georgia"/>
              </a:rPr>
              <a:t>We started with a marketplace. Evidence
changed the product.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834640"/>
            <a:ext cx="42976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999232"/>
            <a:ext cx="39776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Technical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401568"/>
            <a:ext cx="393192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Full-stack development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AI integration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Product engineering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2834640"/>
            <a:ext cx="42976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6672" y="2999232"/>
            <a:ext cx="39776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401568"/>
            <a:ext cx="393192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Customer discovery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Validation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Partnerships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10928" y="2834640"/>
            <a:ext cx="42976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19" y="2999232"/>
            <a:ext cx="39776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F1F1C"/>
                </a:solidFill>
                <a:latin typeface="Aptos"/>
              </a:rPr>
              <a:t>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93807" y="3401568"/>
            <a:ext cx="393192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UX/UI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Prototyping</a:t>
            </a:r>
          </a:p>
          <a:p>
            <a:pPr>
              <a:spcAft>
                <a:spcPts val="500"/>
              </a:spcAft>
              <a:defRPr sz="1150" b="1">
                <a:solidFill>
                  <a:srgbClr val="0F1F1C"/>
                </a:solidFill>
                <a:latin typeface="Aptos"/>
              </a:defRPr>
            </a:pPr>
            <a:r>
              <a:rPr>
                <a:solidFill>
                  <a:srgbClr val="0F1F1C"/>
                </a:solidFill>
              </a:rPr>
              <a:t>●  User experience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434840"/>
            <a:ext cx="36576" cy="658368"/>
          </a:xfrm>
          <a:prstGeom prst="rect">
            <a:avLst/>
          </a:prstGeom>
          <a:solidFill>
            <a:srgbClr val="0F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9536" y="4434840"/>
            <a:ext cx="8010144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617720"/>
            <a:ext cx="7635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1">
                <a:solidFill>
                  <a:srgbClr val="0F1F1C"/>
                </a:solidFill>
                <a:latin typeface="Aptos"/>
              </a:rPr>
              <a:t>Instead of defending our original idea, we changed it. Evidence of execution: working MVP, customer
survey, manufacturer interviews, product pivot, AI roadmap, live demo.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 rot="20760000">
            <a:off x="-1371600" y="1508760"/>
            <a:ext cx="9875520" cy="658368"/>
          </a:xfrm>
          <a:prstGeom prst="parallelogram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960000">
            <a:off x="8503920" y="5715000"/>
            <a:ext cx="7955279" cy="713232"/>
          </a:xfrm>
          <a:prstGeom prst="parallelogram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-822960"/>
            <a:ext cx="5303520" cy="3840480"/>
          </a:xfrm>
          <a:prstGeom prst="ellipse">
            <a:avLst/>
          </a:prstGeom>
          <a:solidFill>
            <a:srgbClr val="72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448056"/>
            <a:ext cx="393192" cy="393192"/>
          </a:xfrm>
          <a:prstGeom prst="roundRect">
            <a:avLst/>
          </a:prstGeom>
          <a:solidFill>
            <a:srgbClr val="5F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530352"/>
            <a:ext cx="64008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530352"/>
            <a:ext cx="146304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3584" y="530352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72E0C9"/>
                </a:solidFill>
                <a:latin typeface="Aptos"/>
              </a:rPr>
              <a:t>Briefly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0" y="576072"/>
            <a:ext cx="7863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CFE9E1"/>
                </a:solidFill>
                <a:latin typeface="Aptos"/>
              </a:rPr>
              <a:t>15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161288"/>
            <a:ext cx="7498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72E0C9"/>
                </a:solidFill>
                <a:latin typeface="Aptos"/>
              </a:rPr>
              <a:t>THE FUTURE OF COMMERCE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868680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Georgia"/>
              </a:rPr>
              <a:t>Products built exactly as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286000"/>
            <a:ext cx="6309360" cy="3246120"/>
          </a:xfrm>
          <a:prstGeom prst="roundRect">
            <a:avLst/>
          </a:prstGeom>
          <a:solidFill>
            <a:srgbClr val="345049"/>
          </a:solidFill>
          <a:ln w="10160">
            <a:solidFill>
              <a:srgbClr val="506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450592"/>
            <a:ext cx="5989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Today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880360"/>
            <a:ext cx="1600200" cy="347472"/>
          </a:xfrm>
          <a:prstGeom prst="roundRect">
            <a:avLst/>
          </a:prstGeom>
          <a:solidFill>
            <a:srgbClr val="405A53"/>
          </a:solidFill>
          <a:ln w="8890">
            <a:solidFill>
              <a:srgbClr val="637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2971800"/>
            <a:ext cx="1417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3319272"/>
            <a:ext cx="20116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FF7A59"/>
                </a:solidFill>
                <a:latin typeface="Apto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657600"/>
            <a:ext cx="1600200" cy="347472"/>
          </a:xfrm>
          <a:prstGeom prst="roundRect">
            <a:avLst/>
          </a:prstGeom>
          <a:solidFill>
            <a:srgbClr val="405A53"/>
          </a:solidFill>
          <a:ln w="8890">
            <a:solidFill>
              <a:srgbClr val="637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3749039"/>
            <a:ext cx="1417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Customers compromise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2286000"/>
            <a:ext cx="6309360" cy="3246120"/>
          </a:xfrm>
          <a:prstGeom prst="roundRect">
            <a:avLst/>
          </a:prstGeom>
          <a:solidFill>
            <a:srgbClr val="345049"/>
          </a:solidFill>
          <a:ln w="10160">
            <a:solidFill>
              <a:srgbClr val="506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1231" y="2450592"/>
            <a:ext cx="5989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Tomorrow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2" y="2880360"/>
            <a:ext cx="1600200" cy="347472"/>
          </a:xfrm>
          <a:prstGeom prst="roundRect">
            <a:avLst/>
          </a:prstGeom>
          <a:solidFill>
            <a:srgbClr val="405A53"/>
          </a:solidFill>
          <a:ln w="8890">
            <a:solidFill>
              <a:srgbClr val="637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0688" y="2971800"/>
            <a:ext cx="1417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Human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35824" y="3319272"/>
            <a:ext cx="20116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FF7A59"/>
                </a:solidFill>
                <a:latin typeface="Aptos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62672" y="3657600"/>
            <a:ext cx="1600200" cy="347472"/>
          </a:xfrm>
          <a:prstGeom prst="roundRect">
            <a:avLst/>
          </a:prstGeom>
          <a:solidFill>
            <a:srgbClr val="405A53"/>
          </a:solidFill>
          <a:ln w="8890">
            <a:solidFill>
              <a:srgbClr val="637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0688" y="3749039"/>
            <a:ext cx="1417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AI spec copilot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35824" y="4096512"/>
            <a:ext cx="20116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FF7A59"/>
                </a:solidFill>
                <a:latin typeface="Aptos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62672" y="4434840"/>
            <a:ext cx="1600200" cy="347472"/>
          </a:xfrm>
          <a:prstGeom prst="roundRect">
            <a:avLst/>
          </a:prstGeom>
          <a:solidFill>
            <a:srgbClr val="405A53"/>
          </a:solidFill>
          <a:ln w="8890">
            <a:solidFill>
              <a:srgbClr val="637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0688" y="4526279"/>
            <a:ext cx="1417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Standardized specification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35824" y="4873752"/>
            <a:ext cx="20116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FF7A59"/>
                </a:solidFill>
                <a:latin typeface="Aptos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62672" y="5212079"/>
            <a:ext cx="1600200" cy="347472"/>
          </a:xfrm>
          <a:prstGeom prst="roundRect">
            <a:avLst/>
          </a:prstGeom>
          <a:solidFill>
            <a:srgbClr val="405A53"/>
          </a:solidFill>
          <a:ln w="8890">
            <a:solidFill>
              <a:srgbClr val="637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0688" y="5303519"/>
            <a:ext cx="1417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Manufacturers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5742432"/>
            <a:ext cx="36576" cy="658368"/>
          </a:xfrm>
          <a:prstGeom prst="rect">
            <a:avLst/>
          </a:prstGeom>
          <a:solidFill>
            <a:srgbClr val="72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9536" y="5742432"/>
            <a:ext cx="8010144" cy="658368"/>
          </a:xfrm>
          <a:prstGeom prst="rect">
            <a:avLst/>
          </a:prstGeom>
          <a:solidFill>
            <a:srgbClr val="2A4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5925312"/>
            <a:ext cx="7635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1">
                <a:solidFill>
                  <a:srgbClr val="FFFFFF"/>
                </a:solidFill>
                <a:latin typeface="Aptos"/>
              </a:rPr>
              <a:t>The internet standardized how information moves. Manufacturing needs a standardized specification
layer so products begin with human intent, not product catalogues.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6601968"/>
            <a:ext cx="795527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DCECE7"/>
                </a:solidFill>
                <a:latin typeface="Aptos"/>
              </a:rPr>
              <a:t>We are not building a better marketplace. We are building the missing layer between
imagination and manufacturing.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